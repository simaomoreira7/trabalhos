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Win-rate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8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D6F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Default (UCT)</c:v>
                  </c:pt>
                  <c:pt idx="1">
                    <c:v>UCT + Heurística</c:v>
                  </c:pt>
                  <c:pt idx="2">
                    <c:v>UCB-V + Smart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46.2</c:v>
                </c:pt>
                <c:pt idx="2">
                  <c:v>78.8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118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  ·  2025/2026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PopOut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2788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search e decision trees aplicados a uma variante do Connect-4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429000"/>
            <a:ext cx="2286000" cy="0"/>
          </a:xfrm>
          <a:prstGeom prst="line">
            <a:avLst/>
          </a:prstGeom>
          <a:noFill/>
          <a:ln w="12700">
            <a:solidFill>
              <a:srgbClr val="A8B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611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Faculdade de Ciências — Universidade do Porto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Gonçalo Avó  ·  Simão Moreira  ·  Guilherme Xavier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MCTS  ·  ID3  ·  Connect-4 variant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D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 não chega — precisamos de MCTS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regras do PopOut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Tabuleiro 6×7 — alinhar 4 peças para ganhar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Drop: colocar peça pelo topo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Pop: remover a própria peça da base — tudo desce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simultâneo: quem fez o pop ganha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repetições ou tabuleiro cheio → empate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17720" y="1325880"/>
            <a:ext cx="0" cy="320040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3258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é mais complexo que o Connect-4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645920"/>
            <a:ext cx="3886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pops criam ciclos — o espaço de estados é muito maior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factor: até 14 movimentos por turno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pop pode virar o jogo — avaliação posicional difícil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Avaliações posicionais clássicas não funcionam bem aqui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nossa abordagem: MCTS para jogar + ID3 a aprender a partir dos dados gerados pelo MCTS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D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MCTS  ·  MÉTODO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fases por simulação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411480" cy="4114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600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 a árvore via UCB até um nó por expandir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7440" y="16002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514600" y="1554480"/>
            <a:ext cx="411480" cy="4114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17520" y="1600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14600" y="21031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um filho para um movimento ainda não tentado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34840" y="16002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0" y="1554480"/>
            <a:ext cx="411480" cy="4114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74920" y="1600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21031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 o jogo até ao fim — aleatório ou com heurística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160020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629400" y="1554480"/>
            <a:ext cx="411480" cy="4114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0" y="1600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29400" y="210312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 vitórias e visitas até à raiz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108960"/>
            <a:ext cx="8229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implementámos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36118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move: escolhemos o filho mais visitado (mais robusto que escolher pelo Q máximo)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UCB configurável — testámos duas variantes (próximo slide)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Possibilidade de adicionar bónus heurístico e smart rollout (slides seguintes)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D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MCTS  ·  VARIANTES UCB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fórmulas, dois comportamentos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UCT — Kocsis &amp; Szepesvári, 2006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931920" cy="64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830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+ C · √(ln N / n)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equilíbrio clássico entre explorar nós pouco visitados e exploitar os que parecem bons.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UCB-V — Audibert et al., 2009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783080"/>
            <a:ext cx="3931920" cy="6400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7830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+ √(2·Var·ln N / n) + C·ln N / 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25603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em conta a variância dos rollouts — explora mais quando os resultados são inconsistentes.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8229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na prática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7947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UCT trata todos os nós da mesma forma — só olha para o win-rate médio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UCB-V distingue entre nós estáveis (poucos visitam, fica satisfeito) e nós instáveis (continua a explorar)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Isto interessa muito quando os rollouts são ruidosos, como acontece no PopOut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D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MCTS  ·  EXTENSÕES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Heurística e Smart Rollout — complementam-se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Heurística posicional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Bónus H(s,a)/(n+1) que desvanece com as visitas — guia sem dominar.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+1.0  →  vitória imediata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+0.7  →  bloqueio de vitória adversária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 · w(col)  →  preferência pelo centro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371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Smart Rollout (heavy playout)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rollout deixa de ser puramente aleatório.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219456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1.º  →  vitória imediata se disponível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2.º  →  bloquear vitória do adversário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3.º  →  coluna central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4.º  →  aleatório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8229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é que combinam bem com UCB-V: 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rollout reduz a variância das simulações e o UCB-V usa essa estabilidade para calibrar a exploração — uma extensão ajuda a outra.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D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MCTS  ·  AVALIAÇÃO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UCB-V + Smart Rollout vence o torneio (78.8%)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 ·  150 jogos por par  ·  300 simulações por movimento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554480"/>
          <a:ext cx="50292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554480"/>
            <a:ext cx="4572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70448" y="15727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78.8%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870448" y="19933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UCB-V + Smart Rollout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70448" y="21945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vencedor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669280" y="2560320"/>
            <a:ext cx="45720" cy="868680"/>
          </a:xfrm>
          <a:prstGeom prst="rect">
            <a:avLst/>
          </a:prstGeom>
          <a:solidFill>
            <a:srgbClr val="3D6FA8"/>
          </a:solidFill>
          <a:ln w="12700">
            <a:solidFill>
              <a:srgbClr val="3D6F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70448" y="25786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46.2%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870448" y="29992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UCT + Heurística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870448" y="32004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intermédio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69280" y="3566160"/>
            <a:ext cx="45720" cy="86868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70448" y="35844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25.0%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5870448" y="40050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(UCT)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870448" y="42062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 curiosa: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relações não são transitivas — UCT bate UCB-V isoladamente, mas perde contra UCB-V + Smart Rollout.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D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horas de self-play geraram 77.101 amostras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77.101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1460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9.267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51460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8h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29400" y="1371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90.7%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62940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win-rate MCTS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8229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06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 do estado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9260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features:  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42 cell_r_c  →  valor de cada célula 6×7 ('X', 'O', '.')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player  →  vez de quem joga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Label:  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drop_N ou pop_N  →  movimento escolhido pelo MCTS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2606040"/>
            <a:ext cx="0" cy="219456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6060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geração (4 modos)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2926080"/>
            <a:ext cx="3886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MCTS(X) vs Random(O)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Random(X) vs MCTS(O)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MCTS(X) vs MCTS(O) — ambos gravados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Random(X) vs MCTS(O)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416052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adversário aleatório força o MCTS a lidar com posições caóticas que o self-play puro não produziria.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D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ID3  ·  MÉTODO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escolhas técnicas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27432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47548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Porquê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 de split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 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Info Gain favorece atributos com muitos valores. O Gain Ratio normaliza isso.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Discretização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MDL (Fayyad-Irani)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Encontra automaticamente os melhores cortes para atributos numéricos (Iris).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Reduced Error Pruning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Conjunto de validação separado — corta nós que não melhoram a accuracy.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Avaliação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K-fold (k=5)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Mais robusto que um único hold-out, sobretudo em datasets pequenos.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 sem scikit-learn ou qualquer biblioteca de ML — só numpy e pandas para manipulação de dados.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D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ID3  ·  IRIS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Warm-up: o ID3 atinge 95.83% no Iris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2651760" cy="10058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95.83%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(teste)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417320"/>
            <a:ext cx="2651760" cy="10058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508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→ 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2900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 (após poda)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417320"/>
            <a:ext cx="2651760" cy="10058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508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96.0%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21792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(±2.49%)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8229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88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isto valida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154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MDL encontrou cortes ótimos automaticamente em petal_length e petal_width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poda reduziu de 14 para 4 nós sem perder accuracy — confirma que estava a fazer overfitting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com ±2.49% de desvio mostra que o resultado é estável e não foi sorte do split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implementação validada, podemos confiar nos resultados do PopOut.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D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ID3  ·  POPOUT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no movimento, 97% no tipo (drop/pop)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1947672" cy="45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exacta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melhor que aleatório (7%)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32888" y="1325880"/>
            <a:ext cx="1947672" cy="45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78608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78608" y="19202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de tipo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78608" y="21945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vs pop — quase perfeito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08576" y="1325880"/>
            <a:ext cx="1947672" cy="45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54296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65k → 1.752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54296" y="19202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 (poda)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54296" y="21945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de redução, accuracy igual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84264" y="1325880"/>
            <a:ext cx="1947672" cy="45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9984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729984" y="19202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da árvore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29984" y="21945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 central é a feature dominante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788920"/>
            <a:ext cx="8229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26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árvore acerta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246120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vs pop  →  97%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decisão depende de features concretas (peças na linha base) e é aprendida quase perfeitamente. O agente nunca faz pop quando não devia.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drop_3 sozinho  →  94%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2926080"/>
            <a:ext cx="0" cy="182880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926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árvore falha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00600" y="3246120"/>
            <a:ext cx="3886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 exacta  →  30%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drop_3 tem 27% do dataset (20.619 amostras); pop_X têm 175–446 cada. Rácio 33:1.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a árvore só aprendeu drop_3.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D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FINAL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MCTS vence o ID3 por 83–17 em 100 partidas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jogos automáticos  ·  alternância de primeiro jogador  ·  MCTS = UCB-V + Smart Rollout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931920" cy="21945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vitórias em 100 jogos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645920"/>
            <a:ext cx="3931920" cy="219456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783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1031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D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4937760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vitórias em 100 jogos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06908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MCTS começa: 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47/50 vitórias (94%).  </a:t>
            </a:r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ID3 começa: 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36/50 vitórias do MCTS (72%).  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17% do ID3 são superiores ao baseline aleatório (~7%) — confirma que aprendeu padrões reais.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vicioso do ID3 em jogos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7863840" cy="0"/>
          </a:xfrm>
          <a:prstGeom prst="line">
            <a:avLst/>
          </a:prstGeom>
          <a:noFill/>
          <a:ln w="9525">
            <a:solidFill>
              <a:srgbClr val="3D5A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FUNCIONOU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UCB-V + Smart Rollout: 78.8% — as extensões complementam-se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validou a implementação: 95.83% (14→4 nós após poda)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ID3 vs MCTS: 17% — superior ao baseline aleatório (~7%)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vs pop: 97% — decisão estratégica aprendida bem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691640"/>
            <a:ext cx="0" cy="3017520"/>
          </a:xfrm>
          <a:prstGeom prst="line">
            <a:avLst/>
          </a:prstGeom>
          <a:noFill/>
          <a:ln w="9525">
            <a:solidFill>
              <a:srgbClr val="3D5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LIMITAÇÃO FUNDAMENTAL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96596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MCTS escolhe drop_3 em 27% das amostras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↓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ID3 aprende que drop_3 é a melhor resposta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↓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 demasiado — só prevê drop_3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FUTURO  ·  </a:t>
            </a:r>
            <a:pPr indent="0" marL="0">
              <a:buNone/>
            </a:pPr>
            <a:r>
              <a:rPr lang="en-US" sz="1000" dirty="0">
                <a:solidFill>
                  <a:srgbClr val="D1D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Árvores especializadas por situação (vitória, bloqueio) + oversampling dos pops + ensaio de Random Forest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PopOut — Adversarial Search &amp; Decision Trees</dc:title>
  <dc:subject>PptxGenJS Presentation</dc:subject>
  <dc:creator>PptxGenJS</dc:creator>
  <cp:lastModifiedBy>PptxGenJS</cp:lastModifiedBy>
  <cp:revision>1</cp:revision>
  <dcterms:created xsi:type="dcterms:W3CDTF">2026-05-17T16:36:50Z</dcterms:created>
  <dcterms:modified xsi:type="dcterms:W3CDTF">2026-05-17T16:36:50Z</dcterms:modified>
</cp:coreProperties>
</file>